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PYTHIA-26  |  SOLUTION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Analysis Generator  |  LTIMindtree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645920" y="612648"/>
            <a:ext cx="1097280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"/>
            <a:ext cx="1371600" cy="640080"/>
          </a:xfrm>
          <a:prstGeom prst="rect">
            <a:avLst/>
          </a:prstGeom>
          <a:solidFill>
            <a:srgbClr val="161B22"/>
          </a:solidFill>
          <a:ln w="1524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13232"/>
            <a:ext cx="54864" cy="53035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731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1D9"/>
                </a:solidFill>
              </a:rPr>
              <a:t>User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Upload Artifacts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.sql  .xml  .groovy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0" y="978408"/>
            <a:ext cx="36576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1993392" y="941832"/>
            <a:ext cx="73152" cy="7315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103120" y="658368"/>
            <a:ext cx="1554480" cy="64008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713232"/>
            <a:ext cx="54864" cy="5303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2240280" y="731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1D9"/>
                </a:solidFill>
              </a:rPr>
              <a:t>FastAPI Backend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REST API  |  8 Endpoints</a:t>
            </a:r>
            <a:endParaRPr lang="en-US" sz="1100" dirty="0"/>
          </a:p>
          <a:p>
            <a:pPr indent="0" marL="0">
              <a:buNone/>
            </a:pPr>
            <a:r>
              <a:rPr lang="en-US" sz="800" b="1" dirty="0">
                <a:solidFill>
                  <a:srgbClr val="3FB950"/>
                </a:solidFill>
              </a:rPr>
              <a:t>:8000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978408"/>
            <a:ext cx="36576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4005072" y="941832"/>
            <a:ext cx="73152" cy="731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0" y="658368"/>
            <a:ext cx="1645920" cy="640080"/>
          </a:xfrm>
          <a:prstGeom prst="rect">
            <a:avLst/>
          </a:prstGeom>
          <a:solidFill>
            <a:srgbClr val="161B22"/>
          </a:solidFill>
          <a:ln w="1524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0" y="713232"/>
            <a:ext cx="54864" cy="53035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731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1D9"/>
                </a:solidFill>
              </a:rPr>
              <a:t>Parser Layer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sql_parser (sqlparse + regex)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oic_parser  |  groovy_parser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822960"/>
            <a:ext cx="457200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6199632" y="786384"/>
            <a:ext cx="73152" cy="7315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2" name="Shape 20"/>
          <p:cNvSpPr/>
          <p:nvPr/>
        </p:nvSpPr>
        <p:spPr>
          <a:xfrm>
            <a:off x="5760720" y="1133856"/>
            <a:ext cx="457200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6199632" y="1097280"/>
            <a:ext cx="73152" cy="7315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585216"/>
            <a:ext cx="2011680" cy="411480"/>
          </a:xfrm>
          <a:prstGeom prst="rect">
            <a:avLst/>
          </a:prstGeom>
          <a:solidFill>
            <a:srgbClr val="161B22"/>
          </a:solidFill>
          <a:ln w="15240">
            <a:solidFill>
              <a:srgbClr val="A371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640080"/>
            <a:ext cx="54864" cy="301752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612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</a:rPr>
              <a:t>NetworkX DiGraph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Dependency Graph  |  Blast Radius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1069848"/>
            <a:ext cx="2011680" cy="411480"/>
          </a:xfrm>
          <a:prstGeom prst="rect">
            <a:avLst/>
          </a:prstGeom>
          <a:solidFill>
            <a:srgbClr val="161B22"/>
          </a:solidFill>
          <a:ln w="15240">
            <a:solidFill>
              <a:srgbClr val="F0883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1124712"/>
            <a:ext cx="54864" cy="30175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</a:rPr>
              <a:t>RAG Ingestion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Chunk &gt; Embed &gt; Store in ChromaDB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  &amp;  EMBEDDING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60320" y="1490472"/>
            <a:ext cx="914400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1572768"/>
            <a:ext cx="1828800" cy="749808"/>
          </a:xfrm>
          <a:prstGeom prst="rect">
            <a:avLst/>
          </a:prstGeom>
          <a:solidFill>
            <a:srgbClr val="161B22"/>
          </a:solidFill>
          <a:ln w="15240">
            <a:solidFill>
              <a:srgbClr val="F0883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1627632"/>
            <a:ext cx="54864" cy="6400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16276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</a:rPr>
              <a:t>Sentence Transformers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F0883E"/>
                </a:solidFill>
              </a:rPr>
              <a:t>all-MiniLM-L6-v2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384-dim embeddings  |  Local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No API calls  |  Zero latency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03120" y="1947672"/>
            <a:ext cx="320040" cy="0"/>
          </a:xfrm>
          <a:prstGeom prst="line">
            <a:avLst/>
          </a:prstGeom>
          <a:noFill/>
          <a:ln w="19050">
            <a:solidFill>
              <a:srgbClr val="F0883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2404872" y="1911096"/>
            <a:ext cx="73152" cy="7315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7" name="Shape 35"/>
          <p:cNvSpPr/>
          <p:nvPr/>
        </p:nvSpPr>
        <p:spPr>
          <a:xfrm>
            <a:off x="2514600" y="1572768"/>
            <a:ext cx="1828800" cy="749808"/>
          </a:xfrm>
          <a:prstGeom prst="rect">
            <a:avLst/>
          </a:prstGeom>
          <a:solidFill>
            <a:srgbClr val="161B22"/>
          </a:solidFill>
          <a:ln w="15240">
            <a:solidFill>
              <a:srgbClr val="F0883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14600" y="1627632"/>
            <a:ext cx="54864" cy="64008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9" name="Text 37"/>
          <p:cNvSpPr/>
          <p:nvPr/>
        </p:nvSpPr>
        <p:spPr>
          <a:xfrm>
            <a:off x="2651760" y="16276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</a:rPr>
              <a:t>ChromaDB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</a:rPr>
              <a:t>In-Memory Vector Store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Cosine Similarity Search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Metadata Filtering + Semantic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43400" y="1947672"/>
            <a:ext cx="320040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4645152" y="1911096"/>
            <a:ext cx="73152" cy="7315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42" name="Shape 40"/>
          <p:cNvSpPr/>
          <p:nvPr/>
        </p:nvSpPr>
        <p:spPr>
          <a:xfrm>
            <a:off x="4754880" y="1572768"/>
            <a:ext cx="2103120" cy="749808"/>
          </a:xfrm>
          <a:prstGeom prst="rect">
            <a:avLst/>
          </a:prstGeom>
          <a:solidFill>
            <a:srgbClr val="161B22"/>
          </a:solidFill>
          <a:ln w="15240">
            <a:solidFill>
              <a:srgbClr val="F0883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1627632"/>
            <a:ext cx="54864" cy="6400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16276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</a:rPr>
              <a:t>Knowledge Base (RAG)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Two sources embedded: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</a:rPr>
              <a:t>1. Oracle Docs + ORA Error Codes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2. Uploaded Artifacts (SQL/OIC/BIP)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58000" y="1947672"/>
            <a:ext cx="320040" cy="0"/>
          </a:xfrm>
          <a:prstGeom prst="line">
            <a:avLst/>
          </a:prstGeom>
          <a:noFill/>
          <a:ln w="19050">
            <a:solidFill>
              <a:srgbClr val="F0883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7159752" y="1911096"/>
            <a:ext cx="73152" cy="7315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7" name="Shape 45"/>
          <p:cNvSpPr/>
          <p:nvPr/>
        </p:nvSpPr>
        <p:spPr>
          <a:xfrm>
            <a:off x="7269480" y="1572768"/>
            <a:ext cx="1828800" cy="749808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269480" y="1627632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9" name="Text 47"/>
          <p:cNvSpPr/>
          <p:nvPr/>
        </p:nvSpPr>
        <p:spPr>
          <a:xfrm>
            <a:off x="7406640" y="16276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</a:rPr>
              <a:t>2-Stage Retrieval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Stage 1: Exact metadata match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Stage 2: Semantic search (top-k=5)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58A6FF"/>
                </a:solidFill>
              </a:rPr>
              <a:t>Merge + Deduplicate + Rank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7432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  (3-TIER FALLBACK)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926080" y="2542032"/>
            <a:ext cx="914400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2633472"/>
            <a:ext cx="2743200" cy="914400"/>
          </a:xfrm>
          <a:prstGeom prst="rect">
            <a:avLst/>
          </a:prstGeom>
          <a:solidFill>
            <a:srgbClr val="161B22"/>
          </a:solidFill>
          <a:ln w="15240">
            <a:solidFill>
              <a:srgbClr val="F0883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74320" y="2688336"/>
            <a:ext cx="54864" cy="80467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4" name="Shape 52"/>
          <p:cNvSpPr/>
          <p:nvPr/>
        </p:nvSpPr>
        <p:spPr>
          <a:xfrm>
            <a:off x="2377440" y="2688336"/>
            <a:ext cx="548640" cy="182880"/>
          </a:xfrm>
          <a:prstGeom prst="rect">
            <a:avLst/>
          </a:prstGeom>
          <a:solidFill>
            <a:srgbClr val="F0883E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2377440" y="2688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883E"/>
                </a:solidFill>
              </a:rPr>
              <a:t>PRIMARY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11480" y="2706624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1D9"/>
                </a:solidFill>
              </a:rPr>
              <a:t>BlueVerse Foundry</a:t>
            </a:r>
            <a:endParaRPr lang="en-US" sz="1200" dirty="0"/>
          </a:p>
          <a:p>
            <a:pPr indent="0" marL="0">
              <a:buNone/>
            </a:pPr>
            <a:r>
              <a:rPr lang="en-US" sz="900" b="1" dirty="0">
                <a:solidFill>
                  <a:srgbClr val="F0883E"/>
                </a:solidFill>
              </a:rPr>
              <a:t>LTIMindtree AI Marketplace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Pre-trained Oracle ERP Agent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Space: AI_Elite_Ora1  |  JWT Auth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REST API  |  30s timeout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017520" y="2999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84F58"/>
                </a:solidFill>
              </a:rPr>
              <a:t>fallback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017520" y="3090672"/>
            <a:ext cx="457200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3566160" y="2633472"/>
            <a:ext cx="2377440" cy="914400"/>
          </a:xfrm>
          <a:prstGeom prst="rect">
            <a:avLst/>
          </a:prstGeom>
          <a:solidFill>
            <a:srgbClr val="161B22"/>
          </a:solidFill>
          <a:ln w="1524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566160" y="2688336"/>
            <a:ext cx="54864" cy="804672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61" name="Shape 59"/>
          <p:cNvSpPr/>
          <p:nvPr/>
        </p:nvSpPr>
        <p:spPr>
          <a:xfrm>
            <a:off x="5303520" y="2688336"/>
            <a:ext cx="548640" cy="182880"/>
          </a:xfrm>
          <a:prstGeom prst="rect">
            <a:avLst/>
          </a:prstGeom>
          <a:solidFill>
            <a:srgbClr val="484F58">
              <a:alpha val="3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303520" y="2688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84F58"/>
                </a:solidFill>
              </a:rPr>
              <a:t>DISABLED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703320" y="270662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681"/>
                </a:solidFill>
              </a:rPr>
              <a:t>OCI GenAI Service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484F58"/>
                </a:solidFill>
              </a:rPr>
              <a:t>Cohere Command A  |  us-chicago-1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484F58"/>
                </a:solidFill>
              </a:rPr>
              <a:t>Available as secondary fallback</a:t>
            </a:r>
            <a:endParaRPr lang="en-US" sz="1100" dirty="0"/>
          </a:p>
          <a:p>
            <a:pPr indent="0" marL="0">
              <a:buNone/>
            </a:pPr>
            <a:r>
              <a:rPr lang="en-US" sz="700" i="1" dirty="0">
                <a:solidFill>
                  <a:srgbClr val="484F58"/>
                </a:solidFill>
              </a:rPr>
              <a:t>OCI_GENAI_ENABLED=false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943600" y="2999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84F58"/>
                </a:solidFill>
              </a:rPr>
              <a:t>fallback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943600" y="3090672"/>
            <a:ext cx="457200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6492240" y="2633472"/>
            <a:ext cx="2011680" cy="914400"/>
          </a:xfrm>
          <a:prstGeom prst="rect">
            <a:avLst/>
          </a:prstGeom>
          <a:solidFill>
            <a:srgbClr val="161B22"/>
          </a:solidFill>
          <a:ln w="1524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492240" y="2688336"/>
            <a:ext cx="54864" cy="804672"/>
          </a:xfrm>
          <a:prstGeom prst="rect">
            <a:avLst/>
          </a:prstGeom>
          <a:solidFill>
            <a:srgbClr val="6E7681"/>
          </a:solidFill>
          <a:ln/>
        </p:spPr>
      </p:sp>
      <p:sp>
        <p:nvSpPr>
          <p:cNvPr id="68" name="Shape 66"/>
          <p:cNvSpPr/>
          <p:nvPr/>
        </p:nvSpPr>
        <p:spPr>
          <a:xfrm>
            <a:off x="7863840" y="2688336"/>
            <a:ext cx="548640" cy="182880"/>
          </a:xfrm>
          <a:prstGeom prst="rect">
            <a:avLst/>
          </a:prstGeom>
          <a:solidFill>
            <a:srgbClr val="6E7681">
              <a:alpha val="2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7863840" y="2688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E7681"/>
                </a:solidFill>
              </a:rPr>
              <a:t>FALLBACK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629400" y="270662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Mock Engine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</a:rPr>
              <a:t>Deterministic rule-based output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</a:rPr>
              <a:t>No credentials needed</a:t>
            </a:r>
            <a:endParaRPr lang="en-US" sz="1100" dirty="0"/>
          </a:p>
          <a:p>
            <a:pPr indent="0" marL="0">
              <a:buNone/>
            </a:pPr>
            <a:r>
              <a:rPr lang="en-US" sz="800" b="1" dirty="0">
                <a:solidFill>
                  <a:srgbClr val="3FB950"/>
                </a:solidFill>
              </a:rPr>
              <a:t>Demo always works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74320" y="36758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OUTPUT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097280" y="3749040"/>
            <a:ext cx="1097280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4320" y="3840480"/>
            <a:ext cx="1965960" cy="438912"/>
          </a:xfrm>
          <a:prstGeom prst="rect">
            <a:avLst/>
          </a:prstGeom>
          <a:solidFill>
            <a:srgbClr val="161B22"/>
          </a:solidFill>
          <a:ln w="15240">
            <a:solidFill>
              <a:srgbClr val="F8514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274320" y="3895344"/>
            <a:ext cx="54864" cy="32918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75" name="Text 73"/>
          <p:cNvSpPr/>
          <p:nvPr/>
        </p:nvSpPr>
        <p:spPr>
          <a:xfrm>
            <a:off x="411480" y="38953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</a:rPr>
              <a:t>Root Cause Analysis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Why this change is risky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423160" y="3840480"/>
            <a:ext cx="1965960" cy="438912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2423160" y="3895344"/>
            <a:ext cx="54864" cy="32918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8" name="Text 76"/>
          <p:cNvSpPr/>
          <p:nvPr/>
        </p:nvSpPr>
        <p:spPr>
          <a:xfrm>
            <a:off x="2560320" y="38953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</a:rPr>
              <a:t>Fix Recommendations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ORA error codes + fixes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572000" y="3840480"/>
            <a:ext cx="1965960" cy="438912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4572000" y="3895344"/>
            <a:ext cx="54864" cy="32918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1" name="Text 79"/>
          <p:cNvSpPr/>
          <p:nvPr/>
        </p:nvSpPr>
        <p:spPr>
          <a:xfrm>
            <a:off x="4709160" y="38953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</a:rPr>
              <a:t>Testing Checklist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Regression test plan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720840" y="3840480"/>
            <a:ext cx="1965960" cy="438912"/>
          </a:xfrm>
          <a:prstGeom prst="rect">
            <a:avLst/>
          </a:prstGeom>
          <a:solidFill>
            <a:srgbClr val="161B22"/>
          </a:solidFill>
          <a:ln w="15240">
            <a:solidFill>
              <a:srgbClr val="D2992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6720840" y="3895344"/>
            <a:ext cx="54864" cy="329184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84" name="Text 82"/>
          <p:cNvSpPr/>
          <p:nvPr/>
        </p:nvSpPr>
        <p:spPr>
          <a:xfrm>
            <a:off x="6858000" y="38953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</a:rPr>
              <a:t>Rollback Plan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Safe reversal steps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274320" y="4370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VISUALIZATION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377440" y="4453128"/>
            <a:ext cx="914400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4320" y="4553712"/>
            <a:ext cx="1965960" cy="457200"/>
          </a:xfrm>
          <a:prstGeom prst="rect">
            <a:avLst/>
          </a:prstGeom>
          <a:solidFill>
            <a:srgbClr val="161B22"/>
          </a:solidFill>
          <a:ln w="15240">
            <a:solidFill>
              <a:srgbClr val="A371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274320" y="4608576"/>
            <a:ext cx="54864" cy="347472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89" name="Text 87"/>
          <p:cNvSpPr/>
          <p:nvPr/>
        </p:nvSpPr>
        <p:spPr>
          <a:xfrm>
            <a:off x="411480" y="46268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</a:rPr>
              <a:t>Next.js Frontend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React 19  |  TypeScript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423160" y="4553712"/>
            <a:ext cx="1965960" cy="457200"/>
          </a:xfrm>
          <a:prstGeom prst="rect">
            <a:avLst/>
          </a:prstGeom>
          <a:solidFill>
            <a:srgbClr val="161B22"/>
          </a:solidFill>
          <a:ln w="15240">
            <a:solidFill>
              <a:srgbClr val="A371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2423160" y="4608576"/>
            <a:ext cx="54864" cy="3474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2" name="Text 90"/>
          <p:cNvSpPr/>
          <p:nvPr/>
        </p:nvSpPr>
        <p:spPr>
          <a:xfrm>
            <a:off x="2560320" y="46268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</a:rPr>
              <a:t>D3.js Graph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Radial Spoke  |  Interactive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572000" y="4553712"/>
            <a:ext cx="1965960" cy="457200"/>
          </a:xfrm>
          <a:prstGeom prst="rect">
            <a:avLst/>
          </a:prstGeom>
          <a:solidFill>
            <a:srgbClr val="161B22"/>
          </a:solidFill>
          <a:ln w="15240">
            <a:solidFill>
              <a:srgbClr val="A371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4572000" y="4608576"/>
            <a:ext cx="54864" cy="34747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5" name="Text 93"/>
          <p:cNvSpPr/>
          <p:nvPr/>
        </p:nvSpPr>
        <p:spPr>
          <a:xfrm>
            <a:off x="4709160" y="46268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</a:rPr>
              <a:t>Risk Dashboard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Score 0-100  |  Severity Badge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6720840" y="4553712"/>
            <a:ext cx="1965960" cy="457200"/>
          </a:xfrm>
          <a:prstGeom prst="rect">
            <a:avLst/>
          </a:prstGeom>
          <a:solidFill>
            <a:srgbClr val="161B22"/>
          </a:solidFill>
          <a:ln w="15240">
            <a:solidFill>
              <a:srgbClr val="A371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6720840" y="4608576"/>
            <a:ext cx="54864" cy="34747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98" name="Text 96"/>
          <p:cNvSpPr/>
          <p:nvPr/>
        </p:nvSpPr>
        <p:spPr>
          <a:xfrm>
            <a:off x="6858000" y="46268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</a:rPr>
              <a:t>PDF Reports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ReportLab  |  Export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9235440" y="530352"/>
            <a:ext cx="2743200" cy="6327648"/>
          </a:xfrm>
          <a:prstGeom prst="rect">
            <a:avLst/>
          </a:prstGeom>
          <a:solidFill>
            <a:srgbClr val="161B22"/>
          </a:solidFill>
          <a:ln w="15240">
            <a:solidFill>
              <a:srgbClr val="21262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9372600" y="594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1D9"/>
                </a:solidFill>
              </a:rPr>
              <a:t>KEY TRADE-OFFS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9326880" y="896112"/>
            <a:ext cx="2560320" cy="658368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418320" y="9326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883E"/>
                </a:solidFill>
              </a:rPr>
              <a:t>BlueVerse vs OCI GenAI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</a:rPr>
              <a:t>+ Pre-trained Oracle agent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</a:rPr>
              <a:t>+ Oracle-specific ORA codes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F85149"/>
                </a:solidFill>
              </a:rPr>
              <a:t>- JWT token expires (20min)</a:t>
            </a:r>
            <a:endParaRPr lang="en-US" sz="800" dirty="0"/>
          </a:p>
          <a:p>
            <a:pPr indent="0" marL="0">
              <a:buNone/>
            </a:pPr>
            <a:r>
              <a:rPr lang="en-US" sz="600" i="1" dirty="0">
                <a:solidFill>
                  <a:srgbClr val="8B949E"/>
                </a:solidFill>
              </a:rPr>
              <a:t>BlueVerse primary, OCI GenAI standby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9326880" y="1627632"/>
            <a:ext cx="2560320" cy="658368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418320" y="16642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883E"/>
                </a:solidFill>
              </a:rPr>
              <a:t>Local vs Cloud Embeddings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</a:rPr>
              <a:t>+ Zero latency (no API calls)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</a:rPr>
              <a:t>+ No cost per embedding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F85149"/>
                </a:solidFill>
              </a:rPr>
              <a:t>- 384-dim (vs 1024 cloud)</a:t>
            </a:r>
            <a:endParaRPr lang="en-US" sz="800" dirty="0"/>
          </a:p>
          <a:p>
            <a:pPr indent="0" marL="0">
              <a:buNone/>
            </a:pPr>
            <a:r>
              <a:rPr lang="en-US" sz="600" i="1" dirty="0">
                <a:solidFill>
                  <a:srgbClr val="8B949E"/>
                </a:solidFill>
              </a:rPr>
              <a:t>MiniLM-L6-v2 — fast + good enough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9326880" y="2359152"/>
            <a:ext cx="2560320" cy="658368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418320" y="23957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883E"/>
                </a:solidFill>
              </a:rPr>
              <a:t>ChromaDB vs Oracle 23ai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</a:rPr>
              <a:t>+ In-memory = instant queries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</a:rPr>
              <a:t>+ Zero infrastructure needed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F85149"/>
                </a:solidFill>
              </a:rPr>
              <a:t>- Ephemeral (no persistence)</a:t>
            </a:r>
            <a:endParaRPr lang="en-US" sz="800" dirty="0"/>
          </a:p>
          <a:p>
            <a:pPr indent="0" marL="0">
              <a:buNone/>
            </a:pPr>
            <a:r>
              <a:rPr lang="en-US" sz="600" i="1" dirty="0">
                <a:solidFill>
                  <a:srgbClr val="8B949E"/>
                </a:solidFill>
              </a:rPr>
              <a:t>Roadmap: Oracle 23ai vector search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9326880" y="3090672"/>
            <a:ext cx="2560320" cy="658368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418320" y="31272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883E"/>
                </a:solidFill>
              </a:rPr>
              <a:t>RAG vs Direct Prompting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</a:rPr>
              <a:t>+ Code-aware recommendations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</a:rPr>
              <a:t>+ Actual object refs in analysis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F85149"/>
                </a:solidFill>
              </a:rPr>
              <a:t>- Chunking strategy matters</a:t>
            </a:r>
            <a:endParaRPr lang="en-US" sz="800" dirty="0"/>
          </a:p>
          <a:p>
            <a:pPr indent="0" marL="0">
              <a:buNone/>
            </a:pPr>
            <a:r>
              <a:rPr lang="en-US" sz="600" i="1" dirty="0">
                <a:solidFill>
                  <a:srgbClr val="8B949E"/>
                </a:solidFill>
              </a:rPr>
              <a:t>2-stage retrieval (exact + semantic)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9326880" y="3867912"/>
            <a:ext cx="2560320" cy="100584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418320" y="39044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D1D9"/>
                </a:solidFill>
              </a:rPr>
              <a:t>TECH STACK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A371F7"/>
                </a:solidFill>
              </a:rPr>
              <a:t>Backend: FastAPI + Python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A371F7"/>
                </a:solidFill>
              </a:rPr>
              <a:t>Graph: NetworkX DiGraph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F0883E"/>
                </a:solidFill>
              </a:rPr>
              <a:t>Embed: sentence-transformers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D29922"/>
                </a:solidFill>
              </a:rPr>
              <a:t>Vector: ChromaDB (ephemeral)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F0883E"/>
                </a:solidFill>
              </a:rPr>
              <a:t>AI: BlueVerse Foundry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58A6FF"/>
                </a:solidFill>
              </a:rPr>
              <a:t>Frontend: Next.js + D3.js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PDF: ReportLab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9326880" y="4946904"/>
            <a:ext cx="2560320" cy="54864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418320" y="4983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D1D9"/>
                </a:solidFill>
              </a:rPr>
              <a:t>VERIFIED METRICS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25 objects parsed from 4 samples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20 nodes, 24 edges in graph</a:t>
            </a:r>
            <a:endParaRPr lang="en-US" sz="800" dirty="0"/>
          </a:p>
          <a:p>
            <a:pPr indent="0" marL="0">
              <a:buNone/>
            </a:pPr>
            <a:r>
              <a:rPr lang="en-US" sz="700" b="1" dirty="0">
                <a:solidFill>
                  <a:srgbClr val="F85149"/>
                </a:solidFill>
              </a:rPr>
              <a:t>EMPLOYEES: Score 82, CRITICAL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4" name="Text 112"/>
          <p:cNvSpPr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4F58"/>
                </a:solidFill>
              </a:rPr>
              <a:t>Team: Sameet (Lead), Pranali, Suraj  |  LTIMindtree  |  Oracle Pythia-26 Hackathon  |  BlueVerse Foundry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4F58"/>
                </a:solidFill>
              </a:rPr>
              <a:t>v1.0  |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Pythia-26 — Solution Architecture</dc:title>
  <dc:subject>PptxGenJS Presentation</dc:subject>
  <dc:creator>Sameet Dandawate</dc:creator>
  <cp:lastModifiedBy>Sameet Dandawate</cp:lastModifiedBy>
  <cp:revision>1</cp:revision>
  <dcterms:created xsi:type="dcterms:W3CDTF">2026-03-31T12:50:03Z</dcterms:created>
  <dcterms:modified xsi:type="dcterms:W3CDTF">2026-03-31T12:50:03Z</dcterms:modified>
</cp:coreProperties>
</file>