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84048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548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AI_ELITE_ORA1 — Production System Architecture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0" y="54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Oracle Cross-Artifact Impact Analysis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37160" y="502920"/>
            <a:ext cx="1554480" cy="1828800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" y="502920"/>
            <a:ext cx="1554480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" y="52120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USER INPUT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" y="649224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Data Sources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192024" y="813816"/>
            <a:ext cx="1444752" cy="3429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" y="813816"/>
            <a:ext cx="36576" cy="3429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" y="832104"/>
            <a:ext cx="12801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</a:rPr>
              <a:t>Oracle Database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92024" y="1175004"/>
            <a:ext cx="1444752" cy="3429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2024" y="1175004"/>
            <a:ext cx="36576" cy="3429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283464" y="1193292"/>
            <a:ext cx="12801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</a:rPr>
              <a:t>Upload Artifacts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92024" y="1536192"/>
            <a:ext cx="1444752" cy="3429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2024" y="1536192"/>
            <a:ext cx="36576" cy="3429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283464" y="1554480"/>
            <a:ext cx="12801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</a:rPr>
              <a:t>OIC REST API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92024" y="1897380"/>
            <a:ext cx="1444752" cy="3429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2024" y="1897380"/>
            <a:ext cx="36576" cy="3429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283464" y="1915668"/>
            <a:ext cx="12801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</a:rPr>
              <a:t>Demo Artifacts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691640" y="1417320"/>
            <a:ext cx="4572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75688" y="1362456"/>
            <a:ext cx="73152" cy="54864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75688" y="1472184"/>
            <a:ext cx="73152" cy="-54864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0" y="1325880"/>
            <a:ext cx="548640" cy="146304"/>
          </a:xfrm>
          <a:prstGeom prst="rect">
            <a:avLst/>
          </a:prstGeom>
          <a:solidFill>
            <a:srgbClr val="0D1117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0" y="132588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B82F6"/>
                </a:solidFill>
              </a:rPr>
              <a:t>HTTPS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2194560" y="502920"/>
            <a:ext cx="1554480" cy="1828800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194560" y="502920"/>
            <a:ext cx="1554480" cy="25603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8" name="Text 26"/>
          <p:cNvSpPr/>
          <p:nvPr/>
        </p:nvSpPr>
        <p:spPr>
          <a:xfrm>
            <a:off x="2194560" y="52120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API GATEWAY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194560" y="649224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FastAPI :8000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249424" y="813816"/>
            <a:ext cx="1444752" cy="3429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9424" y="813816"/>
            <a:ext cx="36576" cy="3429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2" name="Text 30"/>
          <p:cNvSpPr/>
          <p:nvPr/>
        </p:nvSpPr>
        <p:spPr>
          <a:xfrm>
            <a:off x="2340864" y="832104"/>
            <a:ext cx="12801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</a:rPr>
              <a:t>8 REST Endpoints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249424" y="1175004"/>
            <a:ext cx="1444752" cy="3429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49424" y="1175004"/>
            <a:ext cx="36576" cy="3429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5" name="Text 33"/>
          <p:cNvSpPr/>
          <p:nvPr/>
        </p:nvSpPr>
        <p:spPr>
          <a:xfrm>
            <a:off x="2340864" y="1193292"/>
            <a:ext cx="12801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</a:rPr>
              <a:t>Input Validation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249424" y="1536192"/>
            <a:ext cx="1444752" cy="3429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49424" y="1536192"/>
            <a:ext cx="36576" cy="3429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8" name="Text 36"/>
          <p:cNvSpPr/>
          <p:nvPr/>
        </p:nvSpPr>
        <p:spPr>
          <a:xfrm>
            <a:off x="2340864" y="1554480"/>
            <a:ext cx="12801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</a:rPr>
              <a:t>CORS + Rate Limit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249424" y="1897380"/>
            <a:ext cx="1444752" cy="3429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49424" y="1897380"/>
            <a:ext cx="36576" cy="3429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41" name="Text 39"/>
          <p:cNvSpPr/>
          <p:nvPr/>
        </p:nvSpPr>
        <p:spPr>
          <a:xfrm>
            <a:off x="2340864" y="1915668"/>
            <a:ext cx="12801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</a:rPr>
              <a:t>Auth Middleware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749040" y="1417320"/>
            <a:ext cx="45720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133088" y="1362456"/>
            <a:ext cx="73152" cy="54864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33088" y="1472184"/>
            <a:ext cx="73152" cy="-54864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703320" y="1325880"/>
            <a:ext cx="548640" cy="146304"/>
          </a:xfrm>
          <a:prstGeom prst="rect">
            <a:avLst/>
          </a:prstGeom>
          <a:solidFill>
            <a:srgbClr val="0D1117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03320" y="132588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366F1"/>
                </a:solidFill>
              </a:rPr>
              <a:t>Files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4251960" y="502920"/>
            <a:ext cx="1554480" cy="1828800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251960" y="502920"/>
            <a:ext cx="1554480" cy="2560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9" name="Text 47"/>
          <p:cNvSpPr/>
          <p:nvPr/>
        </p:nvSpPr>
        <p:spPr>
          <a:xfrm>
            <a:off x="4251960" y="52120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PARSER ENGINE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251960" y="649224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Auto-Detect &amp; Extract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4306824" y="813816"/>
            <a:ext cx="1444752" cy="3429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306824" y="813816"/>
            <a:ext cx="36576" cy="3429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3" name="Text 51"/>
          <p:cNvSpPr/>
          <p:nvPr/>
        </p:nvSpPr>
        <p:spPr>
          <a:xfrm>
            <a:off x="4398264" y="832104"/>
            <a:ext cx="12801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</a:rPr>
              <a:t>SQL Parser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306824" y="1175004"/>
            <a:ext cx="1444752" cy="3429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306824" y="1175004"/>
            <a:ext cx="36576" cy="3429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6" name="Text 54"/>
          <p:cNvSpPr/>
          <p:nvPr/>
        </p:nvSpPr>
        <p:spPr>
          <a:xfrm>
            <a:off x="4398264" y="1193292"/>
            <a:ext cx="12801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</a:rPr>
              <a:t>OIC/BIP Parser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306824" y="1536192"/>
            <a:ext cx="1444752" cy="3429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306824" y="1536192"/>
            <a:ext cx="36576" cy="3429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9" name="Text 57"/>
          <p:cNvSpPr/>
          <p:nvPr/>
        </p:nvSpPr>
        <p:spPr>
          <a:xfrm>
            <a:off x="4398264" y="1554480"/>
            <a:ext cx="12801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</a:rPr>
              <a:t>Groovy Parser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306824" y="1897380"/>
            <a:ext cx="1444752" cy="3429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306824" y="1897380"/>
            <a:ext cx="36576" cy="3429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2" name="Text 60"/>
          <p:cNvSpPr/>
          <p:nvPr/>
        </p:nvSpPr>
        <p:spPr>
          <a:xfrm>
            <a:off x="4398264" y="1915668"/>
            <a:ext cx="12801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</a:rPr>
              <a:t>Extensible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806440" y="1051560"/>
            <a:ext cx="54864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281928" y="996696"/>
            <a:ext cx="73152" cy="54864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81928" y="1106424"/>
            <a:ext cx="73152" cy="-54864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806440" y="960120"/>
            <a:ext cx="548640" cy="146304"/>
          </a:xfrm>
          <a:prstGeom prst="rect">
            <a:avLst/>
          </a:prstGeom>
          <a:solidFill>
            <a:srgbClr val="0D1117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806440" y="96012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B45309"/>
                </a:solidFill>
              </a:rPr>
              <a:t>Objs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5806440" y="1783080"/>
            <a:ext cx="548640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281928" y="1728216"/>
            <a:ext cx="73152" cy="54864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281928" y="1837944"/>
            <a:ext cx="73152" cy="-54864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806440" y="1691640"/>
            <a:ext cx="548640" cy="146304"/>
          </a:xfrm>
          <a:prstGeom prst="rect">
            <a:avLst/>
          </a:prstGeom>
          <a:solidFill>
            <a:srgbClr val="0D1117"/>
          </a:solidFill>
          <a:ln w="10160">
            <a:solidFill>
              <a:srgbClr val="EA580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06440" y="169164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A580C"/>
                </a:solidFill>
              </a:rPr>
              <a:t>Code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6126480" y="1188720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484F58"/>
                </a:solidFill>
              </a:rPr>
              <a:t>P</a:t>
            </a:r>
            <a:endParaRPr lang="en-US" sz="50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484F58"/>
                </a:solidFill>
              </a:rPr>
              <a:t>A</a:t>
            </a:r>
            <a:endParaRPr lang="en-US" sz="50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484F58"/>
                </a:solidFill>
              </a:rPr>
              <a:t>R</a:t>
            </a:r>
            <a:endParaRPr lang="en-US" sz="50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484F58"/>
                </a:solidFill>
              </a:rPr>
              <a:t>A</a:t>
            </a:r>
            <a:endParaRPr lang="en-US" sz="50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484F58"/>
                </a:solidFill>
              </a:rPr>
              <a:t>L</a:t>
            </a:r>
            <a:endParaRPr lang="en-US" sz="50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484F58"/>
                </a:solidFill>
              </a:rPr>
              <a:t>L</a:t>
            </a:r>
            <a:endParaRPr lang="en-US" sz="50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484F58"/>
                </a:solidFill>
              </a:rPr>
              <a:t>E</a:t>
            </a:r>
            <a:endParaRPr lang="en-US" sz="50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484F58"/>
                </a:solidFill>
              </a:rPr>
              <a:t>L</a:t>
            </a:r>
            <a:endParaRPr lang="en-US" sz="500" dirty="0"/>
          </a:p>
        </p:txBody>
      </p:sp>
      <p:sp>
        <p:nvSpPr>
          <p:cNvPr id="74" name="Shape 72"/>
          <p:cNvSpPr/>
          <p:nvPr/>
        </p:nvSpPr>
        <p:spPr>
          <a:xfrm>
            <a:off x="6217920" y="685800"/>
            <a:ext cx="0" cy="2286000"/>
          </a:xfrm>
          <a:prstGeom prst="line">
            <a:avLst/>
          </a:prstGeom>
          <a:noFill/>
          <a:ln w="12700">
            <a:solidFill>
              <a:srgbClr val="30363D"/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6400800" y="502920"/>
            <a:ext cx="1737360" cy="1097280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400800" y="502920"/>
            <a:ext cx="173736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7" name="Text 75"/>
          <p:cNvSpPr/>
          <p:nvPr/>
        </p:nvSpPr>
        <p:spPr>
          <a:xfrm>
            <a:off x="6400800" y="52120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GRAPH ENGINE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400800" y="649224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Dependency Analysis</a:t>
            </a:r>
            <a:endParaRPr lang="en-US" sz="600" dirty="0"/>
          </a:p>
        </p:txBody>
      </p:sp>
      <p:sp>
        <p:nvSpPr>
          <p:cNvPr id="79" name="Shape 77"/>
          <p:cNvSpPr/>
          <p:nvPr/>
        </p:nvSpPr>
        <p:spPr>
          <a:xfrm>
            <a:off x="6455664" y="813816"/>
            <a:ext cx="1627632" cy="22250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455664" y="813816"/>
            <a:ext cx="36576" cy="22250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1" name="Text 79"/>
          <p:cNvSpPr/>
          <p:nvPr/>
        </p:nvSpPr>
        <p:spPr>
          <a:xfrm>
            <a:off x="6547104" y="832104"/>
            <a:ext cx="1463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</a:rPr>
              <a:t>NetworkX DiGraph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6455664" y="1057656"/>
            <a:ext cx="1627632" cy="22250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455664" y="1057656"/>
            <a:ext cx="36576" cy="22250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4" name="Text 82"/>
          <p:cNvSpPr/>
          <p:nvPr/>
        </p:nvSpPr>
        <p:spPr>
          <a:xfrm>
            <a:off x="6547104" y="1075944"/>
            <a:ext cx="1463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</a:rPr>
              <a:t>BFS Blast Radius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6455664" y="1301496"/>
            <a:ext cx="1627632" cy="22250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455664" y="1301496"/>
            <a:ext cx="36576" cy="22250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7" name="Text 85"/>
          <p:cNvSpPr/>
          <p:nvPr/>
        </p:nvSpPr>
        <p:spPr>
          <a:xfrm>
            <a:off x="6547104" y="1319784"/>
            <a:ext cx="1463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</a:rPr>
              <a:t>Risk Score 0-100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6400800" y="1691640"/>
            <a:ext cx="1737360" cy="1097280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6400800" y="1691640"/>
            <a:ext cx="1737360" cy="25603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90" name="Text 88"/>
          <p:cNvSpPr/>
          <p:nvPr/>
        </p:nvSpPr>
        <p:spPr>
          <a:xfrm>
            <a:off x="6400800" y="170992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RAG ENGINE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6400800" y="1837944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Embeddings + Retrieval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6455664" y="2002536"/>
            <a:ext cx="1627632" cy="22250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455664" y="2002536"/>
            <a:ext cx="36576" cy="22250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94" name="Text 92"/>
          <p:cNvSpPr/>
          <p:nvPr/>
        </p:nvSpPr>
        <p:spPr>
          <a:xfrm>
            <a:off x="6547104" y="2020824"/>
            <a:ext cx="1463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</a:rPr>
              <a:t>Local Embeddings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6455664" y="2246376"/>
            <a:ext cx="1627632" cy="22250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455664" y="2246376"/>
            <a:ext cx="36576" cy="22250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97" name="Text 95"/>
          <p:cNvSpPr/>
          <p:nvPr/>
        </p:nvSpPr>
        <p:spPr>
          <a:xfrm>
            <a:off x="6547104" y="2264664"/>
            <a:ext cx="1463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</a:rPr>
              <a:t>ChromaDB Vectors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6455664" y="2490216"/>
            <a:ext cx="1627632" cy="22250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455664" y="2490216"/>
            <a:ext cx="36576" cy="22250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0" name="Text 98"/>
          <p:cNvSpPr/>
          <p:nvPr/>
        </p:nvSpPr>
        <p:spPr>
          <a:xfrm>
            <a:off x="6547104" y="2508504"/>
            <a:ext cx="1463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</a:rPr>
              <a:t>2-Stage Retrieval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8138160" y="1051560"/>
            <a:ext cx="50292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567928" y="996696"/>
            <a:ext cx="73152" cy="54864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567928" y="1106424"/>
            <a:ext cx="73152" cy="-54864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115300" y="960120"/>
            <a:ext cx="548640" cy="146304"/>
          </a:xfrm>
          <a:prstGeom prst="rect">
            <a:avLst/>
          </a:prstGeom>
          <a:solidFill>
            <a:srgbClr val="0D1117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115300" y="96012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7C3AED"/>
                </a:solidFill>
              </a:rPr>
              <a:t>Impact</a:t>
            </a:r>
            <a:endParaRPr lang="en-US" sz="600" dirty="0"/>
          </a:p>
        </p:txBody>
      </p:sp>
      <p:sp>
        <p:nvSpPr>
          <p:cNvPr id="106" name="Shape 104"/>
          <p:cNvSpPr/>
          <p:nvPr/>
        </p:nvSpPr>
        <p:spPr>
          <a:xfrm>
            <a:off x="8138160" y="2240280"/>
            <a:ext cx="502920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567928" y="2185416"/>
            <a:ext cx="73152" cy="54864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567928" y="2295144"/>
            <a:ext cx="73152" cy="-54864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115300" y="2148840"/>
            <a:ext cx="548640" cy="146304"/>
          </a:xfrm>
          <a:prstGeom prst="rect">
            <a:avLst/>
          </a:prstGeom>
          <a:solidFill>
            <a:srgbClr val="0D1117"/>
          </a:solidFill>
          <a:ln w="10160">
            <a:solidFill>
              <a:srgbClr val="EA580C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115300" y="214884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A580C"/>
                </a:solidFill>
              </a:rPr>
              <a:t>Context</a:t>
            </a:r>
            <a:endParaRPr lang="en-US" sz="600" dirty="0"/>
          </a:p>
        </p:txBody>
      </p:sp>
      <p:sp>
        <p:nvSpPr>
          <p:cNvPr id="111" name="Shape 109"/>
          <p:cNvSpPr/>
          <p:nvPr/>
        </p:nvSpPr>
        <p:spPr>
          <a:xfrm>
            <a:off x="8686800" y="502920"/>
            <a:ext cx="1737360" cy="2560320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12" name="Shape 110"/>
          <p:cNvSpPr/>
          <p:nvPr/>
        </p:nvSpPr>
        <p:spPr>
          <a:xfrm>
            <a:off x="8686800" y="502920"/>
            <a:ext cx="1737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3" name="Text 111"/>
          <p:cNvSpPr/>
          <p:nvPr/>
        </p:nvSpPr>
        <p:spPr>
          <a:xfrm>
            <a:off x="8686800" y="52120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 SERVICE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8686800" y="649224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BlueVerse + Guardrails</a:t>
            </a:r>
            <a:endParaRPr lang="en-US" sz="600" dirty="0"/>
          </a:p>
        </p:txBody>
      </p:sp>
      <p:sp>
        <p:nvSpPr>
          <p:cNvPr id="115" name="Shape 113"/>
          <p:cNvSpPr/>
          <p:nvPr/>
        </p:nvSpPr>
        <p:spPr>
          <a:xfrm>
            <a:off x="8741664" y="813816"/>
            <a:ext cx="1627632" cy="41513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741664" y="813816"/>
            <a:ext cx="36576" cy="41513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7" name="Text 115"/>
          <p:cNvSpPr/>
          <p:nvPr/>
        </p:nvSpPr>
        <p:spPr>
          <a:xfrm>
            <a:off x="8833104" y="832104"/>
            <a:ext cx="146304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</a:rPr>
              <a:t>Prompt Builder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8741664" y="1245413"/>
            <a:ext cx="1627632" cy="41513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741664" y="1245413"/>
            <a:ext cx="36576" cy="41513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0" name="Text 118"/>
          <p:cNvSpPr/>
          <p:nvPr/>
        </p:nvSpPr>
        <p:spPr>
          <a:xfrm>
            <a:off x="8833104" y="1263701"/>
            <a:ext cx="146304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</a:rPr>
              <a:t>Token Manager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8741664" y="1677010"/>
            <a:ext cx="1627632" cy="41513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741664" y="1677010"/>
            <a:ext cx="36576" cy="41513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3" name="Text 121"/>
          <p:cNvSpPr/>
          <p:nvPr/>
        </p:nvSpPr>
        <p:spPr>
          <a:xfrm>
            <a:off x="8833104" y="1695298"/>
            <a:ext cx="146304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</a:rPr>
              <a:t>Guardrails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8741664" y="2108606"/>
            <a:ext cx="1627632" cy="41513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741664" y="2108606"/>
            <a:ext cx="36576" cy="41513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6" name="Text 124"/>
          <p:cNvSpPr/>
          <p:nvPr/>
        </p:nvSpPr>
        <p:spPr>
          <a:xfrm>
            <a:off x="8833104" y="2126894"/>
            <a:ext cx="146304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</a:rPr>
              <a:t>BlueVerse Foundry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8741664" y="2540203"/>
            <a:ext cx="1627632" cy="41513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741664" y="2540203"/>
            <a:ext cx="36576" cy="41513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9" name="Text 127"/>
          <p:cNvSpPr/>
          <p:nvPr/>
        </p:nvSpPr>
        <p:spPr>
          <a:xfrm>
            <a:off x="8833104" y="2558491"/>
            <a:ext cx="146304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</a:rPr>
              <a:t>Response Validator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10424160" y="1783080"/>
            <a:ext cx="50292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0853928" y="1728216"/>
            <a:ext cx="73152" cy="54864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0853928" y="1837944"/>
            <a:ext cx="73152" cy="-54864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0401300" y="1691640"/>
            <a:ext cx="548640" cy="146304"/>
          </a:xfrm>
          <a:prstGeom prst="rect">
            <a:avLst/>
          </a:prstGeom>
          <a:solidFill>
            <a:srgbClr val="0D1117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0401300" y="169164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C2626"/>
                </a:solidFill>
              </a:rPr>
              <a:t>Output</a:t>
            </a:r>
            <a:endParaRPr lang="en-US" sz="600" dirty="0"/>
          </a:p>
        </p:txBody>
      </p:sp>
      <p:sp>
        <p:nvSpPr>
          <p:cNvPr id="135" name="Shape 133"/>
          <p:cNvSpPr/>
          <p:nvPr/>
        </p:nvSpPr>
        <p:spPr>
          <a:xfrm>
            <a:off x="10972800" y="502920"/>
            <a:ext cx="1051560" cy="2560320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36" name="Shape 134"/>
          <p:cNvSpPr/>
          <p:nvPr/>
        </p:nvSpPr>
        <p:spPr>
          <a:xfrm>
            <a:off x="10972800" y="502920"/>
            <a:ext cx="1051560" cy="2560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7" name="Text 135"/>
          <p:cNvSpPr/>
          <p:nvPr/>
        </p:nvSpPr>
        <p:spPr>
          <a:xfrm>
            <a:off x="10972800" y="52120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 OUTPUT</a:t>
            </a:r>
            <a:endParaRPr lang="en-US" sz="900" dirty="0"/>
          </a:p>
        </p:txBody>
      </p:sp>
      <p:sp>
        <p:nvSpPr>
          <p:cNvPr id="138" name="Text 136"/>
          <p:cNvSpPr/>
          <p:nvPr/>
        </p:nvSpPr>
        <p:spPr>
          <a:xfrm>
            <a:off x="10972800" y="64922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4 Deliverables</a:t>
            </a:r>
            <a:endParaRPr lang="en-US" sz="600" dirty="0"/>
          </a:p>
        </p:txBody>
      </p:sp>
      <p:sp>
        <p:nvSpPr>
          <p:cNvPr id="139" name="Shape 137"/>
          <p:cNvSpPr/>
          <p:nvPr/>
        </p:nvSpPr>
        <p:spPr>
          <a:xfrm>
            <a:off x="11027664" y="813816"/>
            <a:ext cx="941832" cy="41513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1027664" y="813816"/>
            <a:ext cx="36576" cy="41513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1" name="Text 139"/>
          <p:cNvSpPr/>
          <p:nvPr/>
        </p:nvSpPr>
        <p:spPr>
          <a:xfrm>
            <a:off x="11119104" y="832104"/>
            <a:ext cx="77724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</a:rPr>
              <a:t>Root Cause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11027664" y="1245413"/>
            <a:ext cx="941832" cy="41513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1027664" y="1245413"/>
            <a:ext cx="36576" cy="41513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4" name="Text 142"/>
          <p:cNvSpPr/>
          <p:nvPr/>
        </p:nvSpPr>
        <p:spPr>
          <a:xfrm>
            <a:off x="11119104" y="1263701"/>
            <a:ext cx="77724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</a:rPr>
              <a:t>Fix + ORA</a:t>
            </a:r>
            <a:endParaRPr lang="en-US" sz="800" dirty="0"/>
          </a:p>
        </p:txBody>
      </p:sp>
      <p:sp>
        <p:nvSpPr>
          <p:cNvPr id="145" name="Shape 143"/>
          <p:cNvSpPr/>
          <p:nvPr/>
        </p:nvSpPr>
        <p:spPr>
          <a:xfrm>
            <a:off x="11027664" y="1677010"/>
            <a:ext cx="941832" cy="41513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1027664" y="1677010"/>
            <a:ext cx="36576" cy="41513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7" name="Text 145"/>
          <p:cNvSpPr/>
          <p:nvPr/>
        </p:nvSpPr>
        <p:spPr>
          <a:xfrm>
            <a:off x="11119104" y="1695298"/>
            <a:ext cx="77724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</a:rPr>
              <a:t>Testing</a:t>
            </a:r>
            <a:endParaRPr lang="en-US" sz="800" dirty="0"/>
          </a:p>
        </p:txBody>
      </p:sp>
      <p:sp>
        <p:nvSpPr>
          <p:cNvPr id="148" name="Shape 146"/>
          <p:cNvSpPr/>
          <p:nvPr/>
        </p:nvSpPr>
        <p:spPr>
          <a:xfrm>
            <a:off x="11027664" y="2108606"/>
            <a:ext cx="941832" cy="41513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1027664" y="2108606"/>
            <a:ext cx="36576" cy="41513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0" name="Text 148"/>
          <p:cNvSpPr/>
          <p:nvPr/>
        </p:nvSpPr>
        <p:spPr>
          <a:xfrm>
            <a:off x="11119104" y="2126894"/>
            <a:ext cx="77724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</a:rPr>
              <a:t>Rollback</a:t>
            </a:r>
            <a:endParaRPr lang="en-US" sz="800" dirty="0"/>
          </a:p>
        </p:txBody>
      </p:sp>
      <p:sp>
        <p:nvSpPr>
          <p:cNvPr id="151" name="Shape 149"/>
          <p:cNvSpPr/>
          <p:nvPr/>
        </p:nvSpPr>
        <p:spPr>
          <a:xfrm>
            <a:off x="11027664" y="2540203"/>
            <a:ext cx="941832" cy="41513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1027664" y="2540203"/>
            <a:ext cx="36576" cy="41513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3" name="Text 151"/>
          <p:cNvSpPr/>
          <p:nvPr/>
        </p:nvSpPr>
        <p:spPr>
          <a:xfrm>
            <a:off x="11119104" y="2558491"/>
            <a:ext cx="77724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</a:rPr>
              <a:t>PDF Report</a:t>
            </a:r>
            <a:endParaRPr lang="en-US" sz="800" dirty="0"/>
          </a:p>
        </p:txBody>
      </p:sp>
      <p:sp>
        <p:nvSpPr>
          <p:cNvPr id="154" name="Shape 152"/>
          <p:cNvSpPr/>
          <p:nvPr/>
        </p:nvSpPr>
        <p:spPr>
          <a:xfrm>
            <a:off x="137160" y="3337560"/>
            <a:ext cx="5669280" cy="1280160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55" name="Shape 153"/>
          <p:cNvSpPr/>
          <p:nvPr/>
        </p:nvSpPr>
        <p:spPr>
          <a:xfrm>
            <a:off x="137160" y="3337560"/>
            <a:ext cx="5669280" cy="2560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6" name="Text 154"/>
          <p:cNvSpPr/>
          <p:nvPr/>
        </p:nvSpPr>
        <p:spPr>
          <a:xfrm>
            <a:off x="137160" y="3355848"/>
            <a:ext cx="5669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FRONTEND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137160" y="3483864"/>
            <a:ext cx="5669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Next.js + D3.js + Ask Ora1 Chat</a:t>
            </a:r>
            <a:endParaRPr lang="en-US" sz="600" dirty="0"/>
          </a:p>
        </p:txBody>
      </p:sp>
      <p:sp>
        <p:nvSpPr>
          <p:cNvPr id="158" name="Shape 156"/>
          <p:cNvSpPr/>
          <p:nvPr/>
        </p:nvSpPr>
        <p:spPr>
          <a:xfrm>
            <a:off x="192024" y="3648456"/>
            <a:ext cx="5559552" cy="2057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92024" y="3648456"/>
            <a:ext cx="36576" cy="2057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0" name="Text 158"/>
          <p:cNvSpPr/>
          <p:nvPr/>
        </p:nvSpPr>
        <p:spPr>
          <a:xfrm>
            <a:off x="283464" y="3666744"/>
            <a:ext cx="53949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</a:rPr>
              <a:t>D3.js Radial Spoke Graph</a:t>
            </a:r>
            <a:endParaRPr lang="en-US" sz="800" dirty="0"/>
          </a:p>
        </p:txBody>
      </p:sp>
      <p:sp>
        <p:nvSpPr>
          <p:cNvPr id="161" name="Shape 159"/>
          <p:cNvSpPr/>
          <p:nvPr/>
        </p:nvSpPr>
        <p:spPr>
          <a:xfrm>
            <a:off x="192024" y="3872484"/>
            <a:ext cx="5559552" cy="2057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92024" y="3872484"/>
            <a:ext cx="36576" cy="2057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3" name="Text 161"/>
          <p:cNvSpPr/>
          <p:nvPr/>
        </p:nvSpPr>
        <p:spPr>
          <a:xfrm>
            <a:off x="283464" y="3890772"/>
            <a:ext cx="53949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</a:rPr>
              <a:t>Ask Ora1 Chat (AI Follow-up)</a:t>
            </a:r>
            <a:endParaRPr lang="en-US" sz="800" dirty="0"/>
          </a:p>
        </p:txBody>
      </p:sp>
      <p:sp>
        <p:nvSpPr>
          <p:cNvPr id="164" name="Shape 162"/>
          <p:cNvSpPr/>
          <p:nvPr/>
        </p:nvSpPr>
        <p:spPr>
          <a:xfrm>
            <a:off x="192024" y="4096512"/>
            <a:ext cx="5559552" cy="2057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92024" y="4096512"/>
            <a:ext cx="36576" cy="2057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6" name="Text 164"/>
          <p:cNvSpPr/>
          <p:nvPr/>
        </p:nvSpPr>
        <p:spPr>
          <a:xfrm>
            <a:off x="283464" y="4114800"/>
            <a:ext cx="53949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</a:rPr>
              <a:t>Risk Dashboard (Score 0-100)</a:t>
            </a:r>
            <a:endParaRPr lang="en-US" sz="800" dirty="0"/>
          </a:p>
        </p:txBody>
      </p:sp>
      <p:sp>
        <p:nvSpPr>
          <p:cNvPr id="167" name="Shape 165"/>
          <p:cNvSpPr/>
          <p:nvPr/>
        </p:nvSpPr>
        <p:spPr>
          <a:xfrm>
            <a:off x="192024" y="4320540"/>
            <a:ext cx="5559552" cy="2057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92024" y="4320540"/>
            <a:ext cx="36576" cy="2057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9" name="Text 167"/>
          <p:cNvSpPr/>
          <p:nvPr/>
        </p:nvSpPr>
        <p:spPr>
          <a:xfrm>
            <a:off x="283464" y="4338828"/>
            <a:ext cx="53949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2E8F0"/>
                </a:solidFill>
              </a:rPr>
              <a:t>Connector Tiles (Oracle Ecosystem)</a:t>
            </a:r>
            <a:endParaRPr lang="en-US" sz="800" dirty="0"/>
          </a:p>
        </p:txBody>
      </p:sp>
      <p:sp>
        <p:nvSpPr>
          <p:cNvPr id="170" name="Shape 168"/>
          <p:cNvSpPr/>
          <p:nvPr/>
        </p:nvSpPr>
        <p:spPr>
          <a:xfrm>
            <a:off x="11475720" y="3063240"/>
            <a:ext cx="0" cy="45720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1475720" y="3520440"/>
            <a:ext cx="-566928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8229600" y="3429000"/>
            <a:ext cx="640080" cy="146304"/>
          </a:xfrm>
          <a:prstGeom prst="rect">
            <a:avLst/>
          </a:prstGeom>
          <a:solidFill>
            <a:srgbClr val="0D1117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8229600" y="34290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6A34A"/>
                </a:solidFill>
              </a:rPr>
              <a:t>Response</a:t>
            </a:r>
            <a:endParaRPr lang="en-US" sz="600" dirty="0"/>
          </a:p>
        </p:txBody>
      </p:sp>
      <p:sp>
        <p:nvSpPr>
          <p:cNvPr id="174" name="Shape 172"/>
          <p:cNvSpPr/>
          <p:nvPr/>
        </p:nvSpPr>
        <p:spPr>
          <a:xfrm>
            <a:off x="5806440" y="3977640"/>
            <a:ext cx="288036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</p:sp>
      <p:sp>
        <p:nvSpPr>
          <p:cNvPr id="175" name="Shape 173"/>
          <p:cNvSpPr/>
          <p:nvPr/>
        </p:nvSpPr>
        <p:spPr>
          <a:xfrm>
            <a:off x="8686800" y="3063240"/>
            <a:ext cx="0" cy="91440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</p:sp>
      <p:sp>
        <p:nvSpPr>
          <p:cNvPr id="176" name="Shape 174"/>
          <p:cNvSpPr/>
          <p:nvPr/>
        </p:nvSpPr>
        <p:spPr>
          <a:xfrm>
            <a:off x="6675120" y="3886200"/>
            <a:ext cx="914400" cy="146304"/>
          </a:xfrm>
          <a:prstGeom prst="rect">
            <a:avLst/>
          </a:prstGeom>
          <a:solidFill>
            <a:srgbClr val="0D1117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6675120" y="38862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C2626"/>
                </a:solidFill>
              </a:rPr>
              <a:t>Follow-up</a:t>
            </a:r>
            <a:endParaRPr lang="en-US" sz="600" dirty="0"/>
          </a:p>
        </p:txBody>
      </p:sp>
      <p:sp>
        <p:nvSpPr>
          <p:cNvPr id="178" name="Shape 176"/>
          <p:cNvSpPr/>
          <p:nvPr/>
        </p:nvSpPr>
        <p:spPr>
          <a:xfrm>
            <a:off x="137160" y="4800600"/>
            <a:ext cx="11868912" cy="21945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274320" y="4800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C3AED"/>
                </a:solidFill>
              </a:rPr>
              <a:t>Graph ‖ RAG = parallel</a:t>
            </a:r>
            <a:endParaRPr lang="en-US" sz="700" dirty="0"/>
          </a:p>
        </p:txBody>
      </p:sp>
      <p:sp>
        <p:nvSpPr>
          <p:cNvPr id="180" name="Text 178"/>
          <p:cNvSpPr/>
          <p:nvPr/>
        </p:nvSpPr>
        <p:spPr>
          <a:xfrm>
            <a:off x="4206240" y="4800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Impact + Code merge → single AI prompt</a:t>
            </a:r>
            <a:endParaRPr lang="en-US" sz="700" dirty="0"/>
          </a:p>
        </p:txBody>
      </p:sp>
      <p:sp>
        <p:nvSpPr>
          <p:cNvPr id="181" name="Text 179"/>
          <p:cNvSpPr/>
          <p:nvPr/>
        </p:nvSpPr>
        <p:spPr>
          <a:xfrm>
            <a:off x="8138160" y="4800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↩ Chat loops back to AI</a:t>
            </a:r>
            <a:endParaRPr lang="en-US" sz="700" dirty="0"/>
          </a:p>
        </p:txBody>
      </p:sp>
      <p:sp>
        <p:nvSpPr>
          <p:cNvPr id="182" name="Shape 180"/>
          <p:cNvSpPr/>
          <p:nvPr/>
        </p:nvSpPr>
        <p:spPr>
          <a:xfrm>
            <a:off x="6400800" y="5166360"/>
            <a:ext cx="5605272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6583680" y="5212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5149"/>
                </a:solidFill>
              </a:rPr>
              <a:t>89</a:t>
            </a:r>
            <a:endParaRPr lang="en-US" sz="2800" dirty="0"/>
          </a:p>
        </p:txBody>
      </p:sp>
      <p:sp>
        <p:nvSpPr>
          <p:cNvPr id="184" name="Text 182"/>
          <p:cNvSpPr/>
          <p:nvPr/>
        </p:nvSpPr>
        <p:spPr>
          <a:xfrm>
            <a:off x="7086600" y="5257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Risk Score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F85149"/>
                </a:solidFill>
              </a:rPr>
              <a:t>CRITICAL</a:t>
            </a:r>
            <a:endParaRPr lang="en-US" sz="700" dirty="0"/>
          </a:p>
        </p:txBody>
      </p:sp>
      <p:sp>
        <p:nvSpPr>
          <p:cNvPr id="185" name="Text 183"/>
          <p:cNvSpPr/>
          <p:nvPr/>
        </p:nvSpPr>
        <p:spPr>
          <a:xfrm>
            <a:off x="777240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371F7"/>
                </a:solidFill>
              </a:rPr>
              <a:t>30</a:t>
            </a:r>
            <a:endParaRPr lang="en-US" sz="2400" dirty="0"/>
          </a:p>
        </p:txBody>
      </p:sp>
      <p:sp>
        <p:nvSpPr>
          <p:cNvPr id="186" name="Text 184"/>
          <p:cNvSpPr/>
          <p:nvPr/>
        </p:nvSpPr>
        <p:spPr>
          <a:xfrm>
            <a:off x="8183880" y="53035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Objects</a:t>
            </a:r>
            <a:endParaRPr lang="en-US" sz="700" dirty="0"/>
          </a:p>
        </p:txBody>
      </p:sp>
      <p:sp>
        <p:nvSpPr>
          <p:cNvPr id="187" name="Text 185"/>
          <p:cNvSpPr/>
          <p:nvPr/>
        </p:nvSpPr>
        <p:spPr>
          <a:xfrm>
            <a:off x="868680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FB950"/>
                </a:solidFill>
              </a:rPr>
              <a:t>53</a:t>
            </a:r>
            <a:endParaRPr lang="en-US" sz="2400" dirty="0"/>
          </a:p>
        </p:txBody>
      </p:sp>
      <p:sp>
        <p:nvSpPr>
          <p:cNvPr id="188" name="Text 186"/>
          <p:cNvSpPr/>
          <p:nvPr/>
        </p:nvSpPr>
        <p:spPr>
          <a:xfrm>
            <a:off x="9098280" y="5303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</a:rPr>
              <a:t>Deps</a:t>
            </a:r>
            <a:endParaRPr lang="en-US" sz="700" dirty="0"/>
          </a:p>
        </p:txBody>
      </p:sp>
      <p:sp>
        <p:nvSpPr>
          <p:cNvPr id="189" name="Text 187"/>
          <p:cNvSpPr/>
          <p:nvPr/>
        </p:nvSpPr>
        <p:spPr>
          <a:xfrm>
            <a:off x="6583680" y="566928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9D1D9"/>
                </a:solidFill>
              </a:rPr>
              <a:t>TECH STACK</a:t>
            </a:r>
            <a:endParaRPr lang="en-US" sz="700" dirty="0"/>
          </a:p>
        </p:txBody>
      </p:sp>
      <p:sp>
        <p:nvSpPr>
          <p:cNvPr id="190" name="Text 188"/>
          <p:cNvSpPr/>
          <p:nvPr/>
        </p:nvSpPr>
        <p:spPr>
          <a:xfrm>
            <a:off x="6583680" y="5852160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A371F7"/>
                </a:solidFill>
              </a:rPr>
              <a:t>Backend: </a:t>
            </a:r>
            <a:pPr indent="0" marL="0">
              <a:buNone/>
            </a:pPr>
            <a:r>
              <a:rPr lang="en-US" sz="600" dirty="0">
                <a:solidFill>
                  <a:srgbClr val="8B949E"/>
                </a:solidFill>
              </a:rPr>
              <a:t>FastAPI + Python</a:t>
            </a:r>
            <a:endParaRPr lang="en-US" sz="600" dirty="0"/>
          </a:p>
        </p:txBody>
      </p:sp>
      <p:sp>
        <p:nvSpPr>
          <p:cNvPr id="191" name="Text 189"/>
          <p:cNvSpPr/>
          <p:nvPr/>
        </p:nvSpPr>
        <p:spPr>
          <a:xfrm>
            <a:off x="6583680" y="599846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A371F7"/>
                </a:solidFill>
              </a:rPr>
              <a:t>Graph: </a:t>
            </a:r>
            <a:pPr indent="0" marL="0">
              <a:buNone/>
            </a:pPr>
            <a:r>
              <a:rPr lang="en-US" sz="600" dirty="0">
                <a:solidFill>
                  <a:srgbClr val="8B949E"/>
                </a:solidFill>
              </a:rPr>
              <a:t>NetworkX DiGraph</a:t>
            </a:r>
            <a:endParaRPr lang="en-US" sz="600" dirty="0"/>
          </a:p>
        </p:txBody>
      </p:sp>
      <p:sp>
        <p:nvSpPr>
          <p:cNvPr id="192" name="Text 190"/>
          <p:cNvSpPr/>
          <p:nvPr/>
        </p:nvSpPr>
        <p:spPr>
          <a:xfrm>
            <a:off x="6583680" y="6144768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F0883E"/>
                </a:solidFill>
              </a:rPr>
              <a:t>Embed: </a:t>
            </a:r>
            <a:pPr indent="0" marL="0">
              <a:buNone/>
            </a:pPr>
            <a:r>
              <a:rPr lang="en-US" sz="600" dirty="0">
                <a:solidFill>
                  <a:srgbClr val="8B949E"/>
                </a:solidFill>
              </a:rPr>
              <a:t>sentence-transformers</a:t>
            </a:r>
            <a:endParaRPr lang="en-US" sz="600" dirty="0"/>
          </a:p>
        </p:txBody>
      </p:sp>
      <p:sp>
        <p:nvSpPr>
          <p:cNvPr id="193" name="Text 191"/>
          <p:cNvSpPr/>
          <p:nvPr/>
        </p:nvSpPr>
        <p:spPr>
          <a:xfrm>
            <a:off x="6583680" y="629107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D29922"/>
                </a:solidFill>
              </a:rPr>
              <a:t>Vector: </a:t>
            </a:r>
            <a:pPr indent="0" marL="0">
              <a:buNone/>
            </a:pPr>
            <a:r>
              <a:rPr lang="en-US" sz="600" dirty="0">
                <a:solidFill>
                  <a:srgbClr val="8B949E"/>
                </a:solidFill>
              </a:rPr>
              <a:t>ChromaDB</a:t>
            </a:r>
            <a:endParaRPr lang="en-US" sz="600" dirty="0"/>
          </a:p>
        </p:txBody>
      </p:sp>
      <p:sp>
        <p:nvSpPr>
          <p:cNvPr id="194" name="Text 192"/>
          <p:cNvSpPr/>
          <p:nvPr/>
        </p:nvSpPr>
        <p:spPr>
          <a:xfrm>
            <a:off x="9326880" y="5852160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F0883E"/>
                </a:solidFill>
              </a:rPr>
              <a:t>AI: </a:t>
            </a:r>
            <a:pPr indent="0" marL="0">
              <a:buNone/>
            </a:pPr>
            <a:r>
              <a:rPr lang="en-US" sz="600" dirty="0">
                <a:solidFill>
                  <a:srgbClr val="8B949E"/>
                </a:solidFill>
              </a:rPr>
              <a:t>BlueVerse Foundry</a:t>
            </a:r>
            <a:endParaRPr lang="en-US" sz="600" dirty="0"/>
          </a:p>
        </p:txBody>
      </p:sp>
      <p:sp>
        <p:nvSpPr>
          <p:cNvPr id="195" name="Text 193"/>
          <p:cNvSpPr/>
          <p:nvPr/>
        </p:nvSpPr>
        <p:spPr>
          <a:xfrm>
            <a:off x="9326880" y="599846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58A6FF"/>
                </a:solidFill>
              </a:rPr>
              <a:t>Frontend: </a:t>
            </a:r>
            <a:pPr indent="0" marL="0">
              <a:buNone/>
            </a:pPr>
            <a:r>
              <a:rPr lang="en-US" sz="600" dirty="0">
                <a:solidFill>
                  <a:srgbClr val="8B949E"/>
                </a:solidFill>
              </a:rPr>
              <a:t>Next.js + D3.js</a:t>
            </a:r>
            <a:endParaRPr lang="en-US" sz="600" dirty="0"/>
          </a:p>
        </p:txBody>
      </p:sp>
      <p:sp>
        <p:nvSpPr>
          <p:cNvPr id="196" name="Text 194"/>
          <p:cNvSpPr/>
          <p:nvPr/>
        </p:nvSpPr>
        <p:spPr>
          <a:xfrm>
            <a:off x="9326880" y="6144768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D29922"/>
                </a:solidFill>
              </a:rPr>
              <a:t>Parse: </a:t>
            </a:r>
            <a:pPr indent="0" marL="0">
              <a:buNone/>
            </a:pPr>
            <a:r>
              <a:rPr lang="en-US" sz="600" dirty="0">
                <a:solidFill>
                  <a:srgbClr val="8B949E"/>
                </a:solidFill>
              </a:rPr>
              <a:t>sqlparse + xml.etree</a:t>
            </a:r>
            <a:endParaRPr lang="en-US" sz="600" dirty="0"/>
          </a:p>
        </p:txBody>
      </p:sp>
      <p:sp>
        <p:nvSpPr>
          <p:cNvPr id="197" name="Shape 195"/>
          <p:cNvSpPr/>
          <p:nvPr/>
        </p:nvSpPr>
        <p:spPr>
          <a:xfrm>
            <a:off x="137160" y="5166360"/>
            <a:ext cx="612648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274320" y="52120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KEY DIFFERENTIATOR</a:t>
            </a:r>
            <a:endParaRPr lang="en-US" sz="800" dirty="0"/>
          </a:p>
        </p:txBody>
      </p:sp>
      <p:sp>
        <p:nvSpPr>
          <p:cNvPr id="199" name="Text 197"/>
          <p:cNvSpPr/>
          <p:nvPr/>
        </p:nvSpPr>
        <p:spPr>
          <a:xfrm>
            <a:off x="274320" y="544068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Oracle DBA_DEPENDENCIES only tracks database objects.
</a:t>
            </a:r>
            <a:pPr indent="0" marL="0">
              <a:buNone/>
            </a:pPr>
            <a:r>
              <a:rPr lang="en-US" sz="800" b="1" dirty="0">
                <a:solidFill>
                  <a:srgbClr val="F0883E"/>
                </a:solidFill>
              </a:rPr>
              <a:t>AI_Elite_Ora1 crosses the boundary:
</a:t>
            </a:r>
            <a:pPr indent="0" marL="0">
              <a:buNone/>
            </a:pPr>
            <a:r>
              <a:rPr lang="en-US" sz="800" dirty="0">
                <a:solidFill>
                  <a:srgbClr val="3FB950"/>
                </a:solidFill>
              </a:rPr>
              <a:t>OIC flows + BIP reports + Groovy scripts
</a:t>
            </a:r>
            <a:pPr indent="0" marL="0">
              <a:buNone/>
            </a:pPr>
            <a:r>
              <a:rPr lang="en-US" sz="800" b="1" dirty="0">
                <a:solidFill>
                  <a:srgbClr val="C9D1D9"/>
                </a:solidFill>
              </a:rPr>
              <a:t>= invisible cross-artifact dependencies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2026-04-02T11:47:11Z</dcterms:created>
  <dcterms:modified xsi:type="dcterms:W3CDTF">2026-04-02T11:47:11Z</dcterms:modified>
</cp:coreProperties>
</file>